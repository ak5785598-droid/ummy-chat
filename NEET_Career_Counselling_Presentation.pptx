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NEET UG</a:t>
            </a:r>
            <a:br/>
            <a:r>
              <a:t>CAREER GUIDANCE</a:t>
            </a:r>
          </a:p>
          <a:p>
            <a:br/>
            <a:br/>
            <a:pPr algn="l">
              <a:defRPr sz="1600" i="1">
                <a:solidFill>
                  <a:srgbClr val="FFFFFF"/>
                </a:solidFill>
              </a:defRPr>
            </a:pPr>
            <a:r>
              <a:t>"The White Coat is not just a profession, it's a lifetime commitment."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A192F"/>
                </a:solidFill>
              </a:defRPr>
            </a:pPr>
            <a:r>
              <a:t>NEET 2026: Don't Rush Your Career Decision!</a:t>
            </a:r>
          </a:p>
          <a:p>
            <a:br/>
            <a:pPr>
              <a:defRPr sz="2200" b="1">
                <a:solidFill>
                  <a:srgbClr val="B22222"/>
                </a:solidFill>
              </a:defRPr>
            </a:pPr>
            <a:r>
              <a:t>Academic Seminar &amp; One-to-One Counselling Session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Presented by: Senior NEET UG Faculty</a:t>
            </a:r>
            <a:br/>
            <a:r>
              <a:t>Dedicated to guiding aspirants &amp; parents to make correct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After NEET: Don't Make Decisions in Panic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74552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B22222"/>
                </a:solidFill>
              </a:defRPr>
            </a:pPr>
            <a:r>
              <a:t>"NEET का रिजल्ट आपके भविष्य का अंत नहीं, बल्कि अगले निर्णय की शुरुआत है।"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356616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A192F"/>
                </a:solidFill>
              </a:defRPr>
            </a:pPr>
            <a:r>
              <a:t>1. Stay Calm</a:t>
            </a:r>
          </a:p>
          <a:p>
            <a:br/>
            <a:pPr algn="l">
              <a:defRPr sz="1400">
                <a:solidFill>
                  <a:srgbClr val="333333"/>
                </a:solidFill>
              </a:defRPr>
            </a:pPr>
            <a:r>
              <a:t>Avoid taking panic decisions under peer or societal pressure. Take time to think.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474720"/>
            <a:ext cx="356616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B22222"/>
                </a:solidFill>
              </a:defRPr>
            </a:pPr>
            <a:r>
              <a:t>2. Know Your Options</a:t>
            </a:r>
          </a:p>
          <a:p>
            <a:br/>
            <a:pPr algn="l">
              <a:defRPr sz="1400">
                <a:solidFill>
                  <a:srgbClr val="333333"/>
                </a:solidFill>
              </a:defRPr>
            </a:pPr>
            <a:r>
              <a:t>MBBS, BDS, BAMS, BHMS, Vet Science, and Paramedical - understand details of 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474720"/>
            <a:ext cx="356616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A192F"/>
                </a:solidFill>
              </a:defRPr>
            </a:pPr>
            <a:r>
              <a:t>3. Informed Decision</a:t>
            </a:r>
          </a:p>
          <a:p>
            <a:br/>
            <a:pPr algn="l">
              <a:defRPr sz="1400">
                <a:solidFill>
                  <a:srgbClr val="333333"/>
                </a:solidFill>
              </a:defRPr>
            </a:pPr>
            <a:r>
              <a:t>Understand recognition status, college quality, licensing exams (NEXT) &amp; true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Parents: Think Twice Before Paying Lakhs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</a:defRPr>
            </a:pPr>
            <a:r>
              <a:t>Ask Yourself These Crucial Questions: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• Is this medical/paramedical course genuinely your child's passion?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• Will they be happy and professionally satisfied after 5 years?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• Have you explored all alternative routes for their core goal?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• Are you taking admission just because a seat is easily available?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• What is the actual return on investment (ROI) for this degree?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0A192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br/>
            <a:r>
              <a:t>IMPORTANT WARNING</a:t>
            </a:r>
          </a:p>
          <a:p>
            <a:br/>
            <a:pPr algn="ctr">
              <a:defRPr sz="1600">
                <a:solidFill>
                  <a:srgbClr val="FFFFFF"/>
                </a:solidFill>
              </a:defRPr>
            </a:pPr>
            <a:r>
              <a:t>"Admission should never be taken only because seats are available."</a:t>
            </a:r>
            <a:br/>
            <a:br/>
            <a:r>
              <a:t>Private medical degrees can cost a fortune. Ensure you are not sacrificing your hard-earned savings on sub-standard private options without discussing with academic experts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One Drop Year vs. Entire Professional Career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029200" cy="4114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B22222"/>
                </a:solidFill>
              </a:defRPr>
            </a:pPr>
            <a:br/>
            <a:r>
              <a:t>365 Days</a:t>
            </a:r>
          </a:p>
          <a:p>
            <a:br/>
            <a:pPr>
              <a:defRPr sz="1800">
                <a:solidFill>
                  <a:srgbClr val="333333"/>
                </a:solidFill>
              </a:defRPr>
            </a:pPr>
            <a:r>
              <a:t>• Temporary effort &amp; preparation</a:t>
            </a:r>
            <a:br/>
            <a:r>
              <a:t>• Focused learning in a known system</a:t>
            </a:r>
            <a:br/>
            <a:r>
              <a:t>• Chance to correct past mistakes</a:t>
            </a:r>
            <a:br/>
            <a:r>
              <a:t>• Cost-effective preparation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3200400"/>
            <a:ext cx="1005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A192F"/>
                </a:solidFill>
              </a:defRPr>
            </a:pPr>
            <a:r>
              <a:t>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2552" y="1645920"/>
            <a:ext cx="5029200" cy="4114800"/>
          </a:xfrm>
          <a:prstGeom prst="roundRect">
            <a:avLst/>
          </a:prstGeom>
          <a:solidFill>
            <a:srgbClr val="0A192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br/>
            <a:r>
              <a:t>35 Years</a:t>
            </a:r>
          </a:p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• Lifetime professional career</a:t>
            </a:r>
            <a:br/>
            <a:r>
              <a:t>• High satisfaction as an expert doctor</a:t>
            </a:r>
            <a:br/>
            <a:r>
              <a:t>• Long-term respect &amp; global opportunities</a:t>
            </a:r>
            <a:br/>
            <a:r>
              <a:t>• High Return on Investment (ROI)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Who Should Plan to Take a Drop Year?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A192F"/>
                </a:solidFill>
              </a:defRPr>
            </a:pPr>
            <a:br/>
            <a:r>
              <a:t>A Drop Year is Ideal If:</a:t>
            </a:r>
          </a:p>
          <a:p>
            <a:br/>
            <a:pPr>
              <a:defRPr sz="1500">
                <a:solidFill>
                  <a:srgbClr val="333333"/>
                </a:solidFill>
              </a:defRPr>
            </a:pPr>
            <a:r>
              <a:t>✔ The student genuinely wants a better NEET UG score.</a:t>
            </a:r>
          </a:p>
          <a:p>
            <a:br/>
            <a:pPr>
              <a:defRPr sz="1500">
                <a:solidFill>
                  <a:srgbClr val="333333"/>
                </a:solidFill>
              </a:defRPr>
            </a:pPr>
            <a:r>
              <a:t>✔ The student is ready to maintain consistency for 1 year.</a:t>
            </a:r>
          </a:p>
          <a:p>
            <a:br/>
            <a:pPr>
              <a:defRPr sz="1500">
                <a:solidFill>
                  <a:srgbClr val="333333"/>
                </a:solidFill>
              </a:defRPr>
            </a:pPr>
            <a:r>
              <a:t>✔ Past exam score was low due to simple errors, not lack of ability.</a:t>
            </a:r>
          </a:p>
          <a:p>
            <a:br/>
            <a:pPr>
              <a:defRPr sz="1500">
                <a:solidFill>
                  <a:srgbClr val="333333"/>
                </a:solidFill>
              </a:defRPr>
            </a:pPr>
            <a:r>
              <a:t>✔ The parents can support their emotional &amp; academic journey.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B22222"/>
                </a:solidFill>
              </a:defRPr>
            </a:pPr>
            <a:br/>
            <a:r>
              <a:t>Honest Self-Analysis Note</a:t>
            </a:r>
          </a:p>
          <a:p>
            <a:br/>
            <a:pPr algn="l">
              <a:defRPr sz="1600">
                <a:solidFill>
                  <a:srgbClr val="333333"/>
                </a:solidFill>
              </a:defRPr>
            </a:pPr>
            <a:r>
              <a:t>"A drop year is not the right choice for everyone."</a:t>
            </a:r>
            <a:br/>
            <a:br/>
            <a:r>
              <a:t>It should be planned only after an honest assessment of:</a:t>
            </a:r>
            <a:br/>
            <a:r>
              <a:t>- Mock test scores</a:t>
            </a:r>
            <a:br/>
            <a:r>
              <a:t>- Weak areas &amp; mistakes</a:t>
            </a:r>
            <a:br/>
            <a:r>
              <a:t>- Commitment to regular study schedules</a:t>
            </a:r>
            <a:br/>
            <a:br/>
            <a:r>
              <a:t>Meet our faculty for a detailed profile evaluation before deciding.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Before Taking Admission Anywhere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30552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A192F"/>
                </a:solidFill>
              </a:defRPr>
            </a:pPr>
            <a:r>
              <a:t>Pillar 1</a:t>
            </a:r>
            <a:br/>
            <a:br/>
            <a:r>
              <a:t>Academic Goals</a:t>
            </a:r>
          </a:p>
          <a:p>
            <a:br/>
            <a:pPr algn="l">
              <a:defRPr sz="1300">
                <a:solidFill>
                  <a:srgbClr val="333333"/>
                </a:solidFill>
              </a:defRPr>
            </a:pPr>
            <a:r>
              <a:t>Does this course fit your final career path?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011680"/>
            <a:ext cx="2130552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B22222"/>
                </a:solidFill>
              </a:defRPr>
            </a:pPr>
            <a:r>
              <a:t>Pillar 2</a:t>
            </a:r>
            <a:br/>
            <a:br/>
            <a:r>
              <a:t>Budget Clarity</a:t>
            </a:r>
          </a:p>
          <a:p>
            <a:br/>
            <a:pPr algn="l">
              <a:defRPr sz="1300">
                <a:solidFill>
                  <a:srgbClr val="333333"/>
                </a:solidFill>
              </a:defRPr>
            </a:pPr>
            <a:r>
              <a:t>No hidden costs, hostels, or registration fees.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11680"/>
            <a:ext cx="2130552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A192F"/>
                </a:solidFill>
              </a:defRPr>
            </a:pPr>
            <a:r>
              <a:t>Pillar 3</a:t>
            </a:r>
            <a:br/>
            <a:br/>
            <a:r>
              <a:t>Recognition Status</a:t>
            </a:r>
          </a:p>
          <a:p>
            <a:br/>
            <a:pPr algn="l">
              <a:defRPr sz="1300">
                <a:solidFill>
                  <a:srgbClr val="333333"/>
                </a:solidFill>
              </a:defRPr>
            </a:pPr>
            <a:r>
              <a:t>Is the college recognized by NMC/DCI?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2130552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B22222"/>
                </a:solidFill>
              </a:defRPr>
            </a:pPr>
            <a:r>
              <a:t>Pillar 4</a:t>
            </a:r>
            <a:br/>
            <a:br/>
            <a:r>
              <a:t>Future Licensing</a:t>
            </a:r>
          </a:p>
          <a:p>
            <a:br/>
            <a:pPr algn="l">
              <a:defRPr sz="1300">
                <a:solidFill>
                  <a:srgbClr val="333333"/>
                </a:solidFill>
              </a:defRPr>
            </a:pPr>
            <a:r>
              <a:t>Understanding NEXT/USMLE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2011680"/>
            <a:ext cx="2130552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A192F"/>
                </a:solidFill>
              </a:defRPr>
            </a:pPr>
            <a:r>
              <a:t>Pillar 5</a:t>
            </a:r>
            <a:br/>
            <a:br/>
            <a:r>
              <a:t>Student Interest</a:t>
            </a:r>
          </a:p>
          <a:p>
            <a:br/>
            <a:pPr algn="l">
              <a:defRPr sz="1300">
                <a:solidFill>
                  <a:srgbClr val="333333"/>
                </a:solidFill>
              </a:defRPr>
            </a:pPr>
            <a:r>
              <a:t>Is the student mentally ready for this field?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D4AF37"/>
                </a:solidFill>
              </a:defRPr>
            </a:pPr>
            <a:r>
              <a:t>लक्ष्य और हौसले की उड़ान (Inspirational Motivation)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12064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A192F"/>
                </a:solidFill>
              </a:defRPr>
            </a:pPr>
            <a:r>
              <a:t>लक्ष्य पर आधारित</a:t>
            </a:r>
          </a:p>
          <a:p>
            <a:br/>
            <a:pPr algn="ctr">
              <a:defRPr sz="1700" i="1" b="1">
                <a:solidFill>
                  <a:srgbClr val="333333"/>
                </a:solidFill>
              </a:defRPr>
            </a:pPr>
            <a:r>
              <a:t>मंज़िल उन्हीं को मिलती है,</a:t>
            </a:r>
            <a:br/>
            <a:r>
              <a:t>जिनके सपनों में जान होती है।</a:t>
            </a:r>
            <a:br/>
            <a:r>
              <a:t>पंखों से कुछ नहीं होता,</a:t>
            </a:r>
            <a:br/>
            <a:r>
              <a:t>हौसलों से उड़ान होती है।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12064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B22222"/>
                </a:solidFill>
              </a:defRPr>
            </a:pPr>
            <a:r>
              <a:t>ड्रॉपर छात्रों के लिए</a:t>
            </a:r>
          </a:p>
          <a:p>
            <a:br/>
            <a:pPr algn="ctr">
              <a:defRPr sz="1700" i="1" b="1">
                <a:solidFill>
                  <a:srgbClr val="333333"/>
                </a:solidFill>
              </a:defRPr>
            </a:pPr>
            <a:r>
              <a:t>एक साल की मेहनत से अगर ज़िंदगी संवर जाए,</a:t>
            </a:r>
            <a:br/>
            <a:r>
              <a:t>तो उस एक साल का निवेश कभी घाटे का सौदा नहीं होता।</a:t>
            </a:r>
            <a:br/>
            <a:r>
              <a:t>जल्दबाज़ी में लिया गया फैसला,</a:t>
            </a:r>
            <a:br/>
            <a:r>
              <a:t>कई बार पूरी उम्र का अफ़सोस बन जाता है।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Need Personal Career Guidance?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2F"/>
                </a:solidFill>
              </a:defRPr>
            </a:pPr>
            <a:r>
              <a:t>Book Your 1-to-1 Counselling Session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✔ Personalized NEET UG Score Analysis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✔ Detailed identification of weak areas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✔ Drop year compatibility check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✔ Alternative medical &amp; paramedical options mapping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✔ Parent-faculty alignment counseling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5303520" cy="4114800"/>
          </a:xfrm>
          <a:prstGeom prst="roundRect">
            <a:avLst/>
          </a:prstGeom>
          <a:solidFill>
            <a:srgbClr val="0A192F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br/>
            <a:r>
              <a:t>MEET YOUR SENIOR MENTOR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Faculty: Kumar Pankaj</a:t>
            </a:r>
            <a:br/>
            <a:r>
              <a:t>(20+ Years NEET UG Faculty)</a:t>
            </a:r>
            <a:br/>
            <a:br/>
            <a:r>
              <a:t>Location: Institute Counselling Room</a:t>
            </a:r>
            <a:br/>
            <a:r>
              <a:t>Contact No: [Add Phone Number]</a:t>
            </a:r>
            <a:br/>
            <a:br/>
            <a:r>
              <a:t>"Choose your career wisely, not hurriedly."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